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D4227-268F-80DF-565E-80EB89C975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5C65F2-00AC-64DA-F0DD-C1ECC6F602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D495BB-D386-172D-2099-D598D4077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38CE-99EA-47DB-B16F-2AFFF91AE4E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CDE91-FE22-74E8-0B8C-7C7C0EE19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D1762-1C53-6B19-CD94-2F6C5724E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9042-7852-4878-A33D-E461CF896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913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28E9F-37B7-AEBA-DBEC-9C465D7CD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50C19-29A3-48F5-BE34-91BA5AD283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847A82-8789-EA34-795A-151F40B08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38CE-99EA-47DB-B16F-2AFFF91AE4E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72D07-C7F0-2C12-6854-7FD01A844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DCCFA2-D82D-9708-D280-6F3D0603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9042-7852-4878-A33D-E461CF896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70828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74768-A016-6F49-53B1-A8254EBD6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B008B-6B5E-EB09-FCB7-1231209B85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D1A5D-9C21-CAE1-B1EC-302E6EE5C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38CE-99EA-47DB-B16F-2AFFF91AE4E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BCEF44-09BD-0666-DA9E-583336B12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D6FBB-C66E-E912-49C7-B0C41C99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9042-7852-4878-A33D-E461CF896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488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C3267-EC63-3ABE-F132-35B878B27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896E5-9DE2-72FF-79D3-B29AEB8707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FD0EA1-C81E-1A95-C91C-999B88241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B8295D-FAEC-AB62-627A-C52F97C51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38CE-99EA-47DB-B16F-2AFFF91AE4E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8FD955-E388-DB31-4E7C-2F365A14C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207D99-5C5C-0BD4-F0E0-160AC66D9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9042-7852-4878-A33D-E461CF896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10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00064-C238-306D-F987-8B13EA8FD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232498-0A1D-2506-2FEA-D3B90E4AE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FC0025-563B-D91E-12CF-931A053E0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303C05-A42F-CB1E-7BDE-A598C33D35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ACF0DD-F2B5-9A22-28D3-47FD31F815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A2D5BA0-6C56-B289-B802-B26511DD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38CE-99EA-47DB-B16F-2AFFF91AE4E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3C85DE-C0F0-CA9F-7211-CCCEE9BFD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725475-A6BF-092A-8019-2F0EC126C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9042-7852-4878-A33D-E461CF896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07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1836-916F-D255-5D43-4FF13949F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FD4D8-8CD8-9DFA-11B2-F7D3F25BE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38CE-99EA-47DB-B16F-2AFFF91AE4E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15D7F5-C8C6-46F6-5602-B939CEA357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ADBB51-33BC-92CA-53D2-59426435E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9042-7852-4878-A33D-E461CF896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112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27EC48-02BA-B482-BAC0-A97789642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38CE-99EA-47DB-B16F-2AFFF91AE4E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906FB4-F53A-74EA-4490-E9B3D27DE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811AF-F69D-D6E5-764A-671021DB9F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9042-7852-4878-A33D-E461CF896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901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A3601-8B54-2DC3-A336-427B31EB3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70CF32-0BE7-01D2-A8EE-2D2F7D39B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6DCC1E-7D83-2342-A5FE-2F9126290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80BC9-F8C4-98FC-9FD4-3BBA4FBB0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38CE-99EA-47DB-B16F-2AFFF91AE4E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75ADE4-14E3-A5F6-3384-3764762F4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6F24C9-3C99-6613-58B6-1C474824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9042-7852-4878-A33D-E461CF896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111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C84C4-8577-74AF-B947-A1CCB5AF4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D1D084-5D96-303A-0F31-A87581121C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EE1F00-0E3E-3206-6E5F-0436A62732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426F61-E8A8-FEF2-79D8-8B81FE6A4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38CE-99EA-47DB-B16F-2AFFF91AE4E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79DB14-8A03-4295-A2A6-708E3FC7A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DCF0B-20F9-D8DE-5BA2-EDF3058C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9042-7852-4878-A33D-E461CF896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70410-19F4-DD7E-E1AB-95B627698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FB21F3-FDA4-9DC3-FAEE-8E129F7ED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2FD526-4BD3-BC60-3A77-A8D06A65E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38CE-99EA-47DB-B16F-2AFFF91AE4E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5D1AE-4DE9-15BE-2B91-1F1967D85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FBEDF-D1DA-AB5C-5467-F20109EA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9042-7852-4878-A33D-E461CF896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405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62CF340-5AB7-E7F6-B088-B95DC1067B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54C800-9D2D-AD5A-EA12-C90AA2EFA6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47D008-4E05-0427-8CF6-3E167F11D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2238CE-99EA-47DB-B16F-2AFFF91AE4E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098568-A18D-E46B-C0C4-56764D992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C362D-18C9-1FF3-306A-143EBB30B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6C9042-7852-4878-A33D-E461CF896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296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C366D-2008-E71E-3A8E-56B45C498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74AFD-0091-1821-33B5-3178BD179E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192AF7-D626-5D7B-C83D-8669F78A4E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2238CE-99EA-47DB-B16F-2AFFF91AE4E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16D0F-8C91-FBAE-679D-661CD5CA5B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A1855-0B36-AEC8-209E-5CDAE25B78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6C9042-7852-4878-A33D-E461CF896C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422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Victorian_era" TargetMode="External"/><Relationship Id="rId13" Type="http://schemas.openxmlformats.org/officeDocument/2006/relationships/hyperlink" Target="https://en.wikipedia.org/wiki/Field_Fisher_Waterhouse" TargetMode="External"/><Relationship Id="rId18" Type="http://schemas.openxmlformats.org/officeDocument/2006/relationships/hyperlink" Target="https://en.wikipedia.org/wiki/Samuel_Lowell_Price" TargetMode="External"/><Relationship Id="rId26" Type="http://schemas.openxmlformats.org/officeDocument/2006/relationships/hyperlink" Target="https://en.wikipedia.org/wiki/Memoirs" TargetMode="External"/><Relationship Id="rId3" Type="http://schemas.openxmlformats.org/officeDocument/2006/relationships/hyperlink" Target="https://en.wikipedia.org/wiki/Liverpool" TargetMode="External"/><Relationship Id="rId21" Type="http://schemas.openxmlformats.org/officeDocument/2006/relationships/hyperlink" Target="https://en.wikipedia.org/wiki/Edwin_Waterhouse#cite_note-parker-3" TargetMode="External"/><Relationship Id="rId7" Type="http://schemas.openxmlformats.org/officeDocument/2006/relationships/hyperlink" Target="https://en.wikipedia.org/wiki/Natural_History_Museum,_London" TargetMode="External"/><Relationship Id="rId12" Type="http://schemas.openxmlformats.org/officeDocument/2006/relationships/hyperlink" Target="https://en.wikipedia.org/wiki/City_of_London" TargetMode="External"/><Relationship Id="rId17" Type="http://schemas.openxmlformats.org/officeDocument/2006/relationships/hyperlink" Target="https://en.wikipedia.org/wiki/Edwin_Waterhouse#cite_note-2" TargetMode="External"/><Relationship Id="rId25" Type="http://schemas.openxmlformats.org/officeDocument/2006/relationships/hyperlink" Target="https://en.wikipedia.org/wiki/Edwin_Waterhouse#cite_note-5" TargetMode="External"/><Relationship Id="rId2" Type="http://schemas.openxmlformats.org/officeDocument/2006/relationships/hyperlink" Target="https://en.wikipedia.org/wiki/Aigburth" TargetMode="External"/><Relationship Id="rId16" Type="http://schemas.openxmlformats.org/officeDocument/2006/relationships/hyperlink" Target="https://en.wikipedia.org/wiki/University_College_London" TargetMode="External"/><Relationship Id="rId20" Type="http://schemas.openxmlformats.org/officeDocument/2006/relationships/hyperlink" Target="https://en.wikipedia.org/wiki/Gresham_Street" TargetMode="External"/><Relationship Id="rId29" Type="http://schemas.openxmlformats.org/officeDocument/2006/relationships/hyperlink" Target="https://en.wikipedia.org/wiki/Edwin_Waterhouse#cite_note-bull472-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London" TargetMode="External"/><Relationship Id="rId11" Type="http://schemas.openxmlformats.org/officeDocument/2006/relationships/hyperlink" Target="https://en.wikipedia.org/wiki/Waterhouse_%26_Co." TargetMode="External"/><Relationship Id="rId24" Type="http://schemas.openxmlformats.org/officeDocument/2006/relationships/hyperlink" Target="https://en.wikipedia.org/wiki/Institute_of_Chartered_Accountants_in_England_%26_Wales" TargetMode="External"/><Relationship Id="rId5" Type="http://schemas.openxmlformats.org/officeDocument/2006/relationships/hyperlink" Target="https://en.wikipedia.org/wiki/Alfred_Waterhouse" TargetMode="External"/><Relationship Id="rId15" Type="http://schemas.openxmlformats.org/officeDocument/2006/relationships/hyperlink" Target="https://en.wikipedia.org/wiki/University_College_School" TargetMode="External"/><Relationship Id="rId23" Type="http://schemas.openxmlformats.org/officeDocument/2006/relationships/hyperlink" Target="https://en.wikipedia.org/wiki/Law_Debenture" TargetMode="External"/><Relationship Id="rId28" Type="http://schemas.openxmlformats.org/officeDocument/2006/relationships/hyperlink" Target="https://en.wikipedia.org/wiki/University_of_Reading" TargetMode="External"/><Relationship Id="rId10" Type="http://schemas.openxmlformats.org/officeDocument/2006/relationships/hyperlink" Target="https://en.wikipedia.org/wiki/Theodore_Waterhouse" TargetMode="External"/><Relationship Id="rId19" Type="http://schemas.openxmlformats.org/officeDocument/2006/relationships/hyperlink" Target="https://en.wikipedia.org/wiki/William_Hopkins_Holyland" TargetMode="External"/><Relationship Id="rId31" Type="http://schemas.openxmlformats.org/officeDocument/2006/relationships/hyperlink" Target="https://en.wikipedia.org/wiki/Edwin_Waterhouse#cite_note-7" TargetMode="External"/><Relationship Id="rId4" Type="http://schemas.openxmlformats.org/officeDocument/2006/relationships/hyperlink" Target="https://en.wikipedia.org/wiki/Architect" TargetMode="External"/><Relationship Id="rId9" Type="http://schemas.openxmlformats.org/officeDocument/2006/relationships/hyperlink" Target="https://en.wikipedia.org/wiki/Solicitor" TargetMode="External"/><Relationship Id="rId14" Type="http://schemas.openxmlformats.org/officeDocument/2006/relationships/hyperlink" Target="https://en.wikipedia.org/wiki/Edwin_Waterhouse#cite_note-memoirs-1" TargetMode="External"/><Relationship Id="rId22" Type="http://schemas.openxmlformats.org/officeDocument/2006/relationships/hyperlink" Target="https://en.wikipedia.org/wiki/Edwin_Waterhouse#cite_note-4" TargetMode="External"/><Relationship Id="rId27" Type="http://schemas.openxmlformats.org/officeDocument/2006/relationships/hyperlink" Target="https://en.wikipedia.org/wiki/Foxhill_House" TargetMode="External"/><Relationship Id="rId30" Type="http://schemas.openxmlformats.org/officeDocument/2006/relationships/hyperlink" Target="https://en.wikipedia.org/wiki/Nicholas_Waterhous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4B1347-5941-11AB-C00A-14C59810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PWC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E8854-924E-86EB-ADB5-FF992D8062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/>
              <a:t>Born at Oakfield, </a:t>
            </a:r>
            <a:r>
              <a:rPr lang="en-US">
                <a:hlinkClick r:id="rId2" tooltip="Aigburth"/>
              </a:rPr>
              <a:t>Aigburth</a:t>
            </a:r>
            <a:r>
              <a:rPr lang="en-US"/>
              <a:t>, </a:t>
            </a:r>
            <a:r>
              <a:rPr lang="en-US">
                <a:hlinkClick r:id="rId3" tooltip="Liverpool"/>
              </a:rPr>
              <a:t>Liverpool</a:t>
            </a:r>
            <a:r>
              <a:rPr lang="en-US"/>
              <a:t>, Edwin Waterhouse was the son of a wealthy cotton broker. His brothers were prominent </a:t>
            </a:r>
            <a:r>
              <a:rPr lang="en-US">
                <a:hlinkClick r:id="rId4" tooltip="Architect"/>
              </a:rPr>
              <a:t>architect</a:t>
            </a:r>
            <a:r>
              <a:rPr lang="en-US"/>
              <a:t> </a:t>
            </a:r>
            <a:r>
              <a:rPr lang="en-US">
                <a:hlinkClick r:id="rId5" tooltip="Alfred Waterhouse"/>
              </a:rPr>
              <a:t>Alfred Waterhouse</a:t>
            </a:r>
            <a:r>
              <a:rPr lang="en-US"/>
              <a:t>, designer of </a:t>
            </a:r>
            <a:r>
              <a:rPr lang="en-US">
                <a:hlinkClick r:id="rId6" tooltip="London"/>
              </a:rPr>
              <a:t>London</a:t>
            </a:r>
            <a:r>
              <a:rPr lang="en-US"/>
              <a:t>'s </a:t>
            </a:r>
            <a:r>
              <a:rPr lang="en-US">
                <a:hlinkClick r:id="rId7" tooltip="Natural History Museum, London"/>
              </a:rPr>
              <a:t>Natural History Museum</a:t>
            </a:r>
            <a:r>
              <a:rPr lang="en-US"/>
              <a:t> and many other iconic </a:t>
            </a:r>
            <a:r>
              <a:rPr lang="en-US">
                <a:hlinkClick r:id="rId8" tooltip="Victorian era"/>
              </a:rPr>
              <a:t>Victorian</a:t>
            </a:r>
            <a:r>
              <a:rPr lang="en-US"/>
              <a:t> buildings, and </a:t>
            </a:r>
            <a:r>
              <a:rPr lang="en-US">
                <a:hlinkClick r:id="rId9" tooltip="Solicitor"/>
              </a:rPr>
              <a:t>solicitor</a:t>
            </a:r>
            <a:r>
              <a:rPr lang="en-US"/>
              <a:t> </a:t>
            </a:r>
            <a:r>
              <a:rPr lang="en-US">
                <a:hlinkClick r:id="rId10" tooltip="Theodore Waterhouse"/>
              </a:rPr>
              <a:t>Theodore Waterhouse</a:t>
            </a:r>
            <a:r>
              <a:rPr lang="en-US"/>
              <a:t>, who founded the firm of </a:t>
            </a:r>
            <a:r>
              <a:rPr lang="en-US">
                <a:hlinkClick r:id="rId11" tooltip="Waterhouse &amp; Co."/>
              </a:rPr>
              <a:t>Waterhouse &amp; Co.</a:t>
            </a:r>
            <a:r>
              <a:rPr lang="en-US"/>
              <a:t> that continues to practise in the </a:t>
            </a:r>
            <a:r>
              <a:rPr lang="en-US">
                <a:hlinkClick r:id="rId12" tooltip="City of London"/>
              </a:rPr>
              <a:t>City of London</a:t>
            </a:r>
            <a:r>
              <a:rPr lang="en-US"/>
              <a:t> (now as part of </a:t>
            </a:r>
            <a:r>
              <a:rPr lang="en-US">
                <a:hlinkClick r:id="rId13" tooltip="Field Fisher Waterhouse"/>
              </a:rPr>
              <a:t>Field Fisher Waterhouse</a:t>
            </a:r>
            <a:r>
              <a:rPr lang="en-US"/>
              <a:t>).</a:t>
            </a:r>
            <a:r>
              <a:rPr lang="en-US" baseline="30000">
                <a:hlinkClick r:id="rId14"/>
              </a:rPr>
              <a:t>[1]</a:t>
            </a:r>
            <a:endParaRPr lang="en-US"/>
          </a:p>
          <a:p>
            <a:r>
              <a:rPr lang="en-US"/>
              <a:t>Edwin Waterhouse was educated at </a:t>
            </a:r>
            <a:r>
              <a:rPr lang="en-US">
                <a:hlinkClick r:id="rId15" tooltip="University College School"/>
              </a:rPr>
              <a:t>University College School</a:t>
            </a:r>
            <a:r>
              <a:rPr lang="en-US"/>
              <a:t> and then its associated university </a:t>
            </a:r>
            <a:r>
              <a:rPr lang="en-US">
                <a:hlinkClick r:id="rId16" tooltip="University College London"/>
              </a:rPr>
              <a:t>University College London</a:t>
            </a:r>
            <a:r>
              <a:rPr lang="en-US"/>
              <a:t>.</a:t>
            </a:r>
            <a:r>
              <a:rPr lang="en-US" baseline="30000">
                <a:hlinkClick r:id="rId17"/>
              </a:rPr>
              <a:t>[2]</a:t>
            </a:r>
            <a:r>
              <a:rPr lang="en-US"/>
              <a:t> He joined forces with </a:t>
            </a:r>
            <a:r>
              <a:rPr lang="en-US">
                <a:hlinkClick r:id="rId18" tooltip="Samuel Lowell Price"/>
              </a:rPr>
              <a:t>Samuel Lowell Price</a:t>
            </a:r>
            <a:r>
              <a:rPr lang="en-US"/>
              <a:t> and </a:t>
            </a:r>
            <a:r>
              <a:rPr lang="en-US">
                <a:hlinkClick r:id="rId19" tooltip="William Hopkins Holyland"/>
              </a:rPr>
              <a:t>William Hopkins Holyland</a:t>
            </a:r>
            <a:r>
              <a:rPr lang="en-US"/>
              <a:t> at new offices at No. 13 </a:t>
            </a:r>
            <a:r>
              <a:rPr lang="en-US">
                <a:hlinkClick r:id="rId20" tooltip="Gresham Street"/>
              </a:rPr>
              <a:t>Gresham Street</a:t>
            </a:r>
            <a:r>
              <a:rPr lang="en-US"/>
              <a:t> in London in 1865.</a:t>
            </a:r>
            <a:r>
              <a:rPr lang="en-US" baseline="30000">
                <a:hlinkClick r:id="rId21"/>
              </a:rPr>
              <a:t>[3]</a:t>
            </a:r>
            <a:r>
              <a:rPr lang="en-US" baseline="30000">
                <a:hlinkClick r:id="rId22"/>
              </a:rPr>
              <a:t>[4]</a:t>
            </a:r>
            <a:r>
              <a:rPr lang="en-US"/>
              <a:t> In 1889 Waterhouse, along with a group of prominent businessmen, politicians and lawyers, founded </a:t>
            </a:r>
            <a:r>
              <a:rPr lang="en-US">
                <a:hlinkClick r:id="rId23" tooltip="Law Debenture"/>
              </a:rPr>
              <a:t>The Law Debenture Corporation</a:t>
            </a:r>
            <a:r>
              <a:rPr lang="en-US"/>
              <a:t>. He also served as president of the </a:t>
            </a:r>
            <a:r>
              <a:rPr lang="en-US">
                <a:hlinkClick r:id="rId24" tooltip="Institute of Chartered Accountants in England &amp; Wales"/>
              </a:rPr>
              <a:t>Institute of Chartered Accountants</a:t>
            </a:r>
            <a:r>
              <a:rPr lang="en-US"/>
              <a:t> for the years 1892 to 1894.</a:t>
            </a:r>
            <a:r>
              <a:rPr lang="en-US" baseline="30000">
                <a:hlinkClick r:id="rId14"/>
              </a:rPr>
              <a:t>[1]</a:t>
            </a:r>
            <a:r>
              <a:rPr lang="en-US" baseline="30000">
                <a:hlinkClick r:id="rId25"/>
              </a:rPr>
              <a:t>[5]</a:t>
            </a:r>
            <a:endParaRPr lang="en-US"/>
          </a:p>
          <a:p>
            <a:r>
              <a:rPr lang="en-US"/>
              <a:t>Waterhouse's </a:t>
            </a:r>
            <a:r>
              <a:rPr lang="en-US">
                <a:hlinkClick r:id="rId26" tooltip="Memoirs"/>
              </a:rPr>
              <a:t>memoirs</a:t>
            </a:r>
            <a:r>
              <a:rPr lang="en-US"/>
              <a:t>, describing his upbringing, education and professional life, along with his relationship with his two brothers, were found in the firm's archive in 1985, and an edited version produced in 1988.</a:t>
            </a:r>
            <a:r>
              <a:rPr lang="en-US" baseline="30000">
                <a:hlinkClick r:id="rId14"/>
              </a:rPr>
              <a:t>[1]</a:t>
            </a:r>
            <a:endParaRPr lang="en-US"/>
          </a:p>
          <a:p>
            <a:r>
              <a:rPr lang="en-US"/>
              <a:t>In 2007 the courtyard of </a:t>
            </a:r>
            <a:r>
              <a:rPr lang="en-US">
                <a:hlinkClick r:id="rId27" tooltip="Foxhill House"/>
              </a:rPr>
              <a:t>Foxhill House</a:t>
            </a:r>
            <a:r>
              <a:rPr lang="en-US"/>
              <a:t>, the Alfred Waterhouse designed building that now houses the </a:t>
            </a:r>
            <a:r>
              <a:rPr lang="en-US">
                <a:hlinkClick r:id="rId28" tooltip="University of Reading"/>
              </a:rPr>
              <a:t>University of Reading</a:t>
            </a:r>
            <a:r>
              <a:rPr lang="en-US"/>
              <a:t>'s faculty of law, was refurbished with a grant from PriceWaterhouseCoopers in memory of Edwin Waterhouse.</a:t>
            </a:r>
            <a:r>
              <a:rPr lang="en-US" baseline="30000">
                <a:hlinkClick r:id="rId29"/>
              </a:rPr>
              <a:t>[6]</a:t>
            </a:r>
            <a:endParaRPr lang="en-US"/>
          </a:p>
          <a:p>
            <a:r>
              <a:rPr lang="en-US"/>
              <a:t>His son, </a:t>
            </a:r>
            <a:r>
              <a:rPr lang="en-US">
                <a:hlinkClick r:id="rId30" tooltip="Nicholas Waterhouse"/>
              </a:rPr>
              <a:t>Nicholas Edwin Waterhouse</a:t>
            </a:r>
            <a:r>
              <a:rPr lang="en-US"/>
              <a:t>, became senior partner of Price Waterhouse &amp; Company, and president of the Institute of Chartered Accountants.</a:t>
            </a:r>
            <a:r>
              <a:rPr lang="en-US" baseline="30000">
                <a:hlinkClick r:id="rId31"/>
              </a:rPr>
              <a:t>[7]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44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273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PWC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Aman</dc:creator>
  <cp:lastModifiedBy>Aman</cp:lastModifiedBy>
  <cp:revision>1</cp:revision>
  <dcterms:created xsi:type="dcterms:W3CDTF">2026-02-17T05:49:38Z</dcterms:created>
  <dcterms:modified xsi:type="dcterms:W3CDTF">2026-02-17T05:50:41Z</dcterms:modified>
</cp:coreProperties>
</file>